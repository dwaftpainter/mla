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tập trung vào một câu hỏi cụ thể: khi đã biết đoạn nào trong câu có lỗi, mô hình có thể phân loại lỗi đó tốt đến đâu? Đây chưa phải hệ tự tìm và sửa lỗi. Bộ slide dự kiến khoảng 10 phút. Nhóm cần bổ sung họ tên và MSSV trước khi sử dụng để nộp bài.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câu hỏi đi từ hiệu quả tổng thể đến vai trò của thông tin đầu vào, rồi đến các lỗi còn lại. Nhãn dùng để học, còn bản sửa chỉ được đọc khi rà soát sau dự đoán; chúng không nằm trong đầu vào dự đoán. BERT được bổ sung sau để kiểm tra một cách biểu diễn khác trên cùng bài toán.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câu có thể tạo nhiều mẫu nếu chứa nhiều annotation. Nếu chia ngẫu nhiên từng dòng, các mẫu có liên hệ có thể xuất hiện ở cả train và test. Chia theo nhóm giúp hạn chế tình huống này. Cũng vì sự phụ thuộc đó, khoảng tin cậy được lấy mẫu lại theo nhóm bài viết.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cách chia nội dung thành ba phần để giải thích quy trình. Phần tạo đặc trưng thuộc bước dữ liệu. Biểu diễn Full của LR và Tree có 16.180 chiều; BERT học biểu diễn từ câu có marker, không nối thêm vector S/L/P/M/D. Phân công theo tên cần được xác nhận từ công việc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biến thể đặc trưng được chọn tham số riêng, nên chênh lệch chưa phải hiệu ứng nhân quả của một nhóm thông tin ở cùng bộ tham số. POS rule có bảng tra học từ train. LR cũng có dependency từ cả câu, vì thế đối chiếu với BERT không đơn giản là mô hình có ngữ cảnh và mô hình không có ngữ cảnh.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100 mẫu giúp kiểm tra khả năng tối ưu hóa, không cho biết mô hình sẽ làm tốt trên dữ liệu chưa học. Vì vậy, đợt mở rộng bắt đầu lại từ pretrained và đánh giá trên toàn validation. Khi giải thích cải thiện, cần nhớ ngoài readout còn có thời gian huấn luyện và learning rate của head thay đổi.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Cấu hình được chọn bằng kết quả trung bình của cùng ba seed trên validation. Seed chính đã cố định từ trước, nên không thay bằng seed 20261015 dù seed đó có điểm test cao nhất. Span mean lấy trung bình biểu diễn của các token trong đoạn lỗi sau khi encoder đã xử lý cùng ngữ cảnh.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điểm trên hình đều dùng cùng 2.368 mẫu test. Điểm BERT là của seed chính đã khóa, còn trung bình ba seed được báo riêng. Accuracy đếm mọi mẫu ngang nhau, trong khi macro-F1 cho mỗi lớp trọng số ngang nhau; vì thế hai chỉ số có thể dẫn đến thứ tự khác nhau.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cần nhìn là CI của chênh lệch, không phải hai CI riêng có chồng nhau hay không. Cùng một lượt lấy lại nhóm được dùng cho mọi mô hình. CI chứa 0 nghĩa là chưa đủ bằng chứng xếp hạng chắc chắn, không chứng minh hai mô hình bằng nhau. Phép tính cũng chưa bao quát biến thiên do split mới hoặc nhiều seed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theo lớp cho thấy hai mô hình có những đánh đổi khác nhau dù điểm trung bình gần nhau. SVA đáng được đọc kỹ vì chênh lệch lớn hơn các lớp còn lại. Tuy nhiên, chỉ nhìn dự đoán chưa đủ để kết luận attention hay parser là nguyên nhân gây sai.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thể dùng CSV trên máy để giải thích một ca đã tự đọc. ID 38155 là mảnh từ nhưng cả hai mô hình vẫn đúng, giúp tránh suy rằng mọi partial-token đều gây lỗi. ID 34539 cho thấy cần xem quan hệ giữa nhãn và bản sửa. Các ca được chọn có chủ đích, không phải mẫu ngẫu nhiên đại diện corpus.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cho thấy cách biểu diễn và thiết lập huấn luyện đều đáng quan tâm, nhưng chưa cho phép tuyên bố mô hình hiểu ngữ pháp đầy đủ hoặc tốt trên mọi corpus. Đợt mở rộng dùng lại test đã biết từ các mô hình cổ điển, nên nghiên cứu tiếp nên có dữ liệu bên ngoài. Phần còn lại của nhóm là xác nhận thông tin và tự kiểm tra tài liệu trước khi nộp.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Phân loại lỗi ngữ pháp trên NUCLE</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1</a:t>
            </a:r>
          </a:p>
        </p:txBody>
      </p:sp>
      <p:sp>
        <p:nvSpPr>
          <p:cNvPr id="6" name="TextBox 5"/>
          <p:cNvSpPr txBox="1"/>
          <p:nvPr/>
        </p:nvSpPr>
        <p:spPr>
          <a:xfrm>
            <a:off x="594360" y="1417320"/>
            <a:ext cx="10972800" cy="822960"/>
          </a:xfrm>
          <a:prstGeom prst="rect">
            <a:avLst/>
          </a:prstGeom>
          <a:noFill/>
        </p:spPr>
        <p:txBody>
          <a:bodyPr wrap="square" lIns="0" rIns="0">
            <a:spAutoFit/>
          </a:bodyPr>
          <a:lstStyle/>
          <a:p>
            <a:r>
              <a:rPr sz="2600" b="0">
                <a:solidFill>
                  <a:srgbClr val="087F8C"/>
                </a:solidFill>
                <a:latin typeface="Arial"/>
              </a:rPr>
              <a:t>Biết vị trí lỗi, mô hình có nhận ra đúng loại lỗi không?</a:t>
            </a:r>
          </a:p>
        </p:txBody>
      </p:sp>
      <p:sp>
        <p:nvSpPr>
          <p:cNvPr id="7" name="TextBox 6"/>
          <p:cNvSpPr txBox="1"/>
          <p:nvPr/>
        </p:nvSpPr>
        <p:spPr>
          <a:xfrm>
            <a:off x="658368" y="251460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8" name="TextBox 7"/>
          <p:cNvSpPr txBox="1"/>
          <p:nvPr/>
        </p:nvSpPr>
        <p:spPr>
          <a:xfrm>
            <a:off x="941832" y="2514600"/>
            <a:ext cx="10561320" cy="576072"/>
          </a:xfrm>
          <a:prstGeom prst="rect">
            <a:avLst/>
          </a:prstGeom>
          <a:noFill/>
        </p:spPr>
        <p:txBody>
          <a:bodyPr wrap="square" lIns="0" rIns="0">
            <a:spAutoFit/>
          </a:bodyPr>
          <a:lstStyle/>
          <a:p>
            <a:r>
              <a:rPr sz="2100" b="0">
                <a:solidFill>
                  <a:srgbClr val="183447"/>
                </a:solidFill>
                <a:latin typeface="Arial"/>
              </a:rPr>
              <a:t>15.788 mẫu thuộc năm nhãn; chia tập theo nhóm bài viết.</a:t>
            </a:r>
          </a:p>
        </p:txBody>
      </p:sp>
      <p:sp>
        <p:nvSpPr>
          <p:cNvPr id="9" name="TextBox 8"/>
          <p:cNvSpPr txBox="1"/>
          <p:nvPr/>
        </p:nvSpPr>
        <p:spPr>
          <a:xfrm>
            <a:off x="658368" y="320040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0" name="TextBox 9"/>
          <p:cNvSpPr txBox="1"/>
          <p:nvPr/>
        </p:nvSpPr>
        <p:spPr>
          <a:xfrm>
            <a:off x="941832" y="3200400"/>
            <a:ext cx="10561320" cy="576072"/>
          </a:xfrm>
          <a:prstGeom prst="rect">
            <a:avLst/>
          </a:prstGeom>
          <a:noFill/>
        </p:spPr>
        <p:txBody>
          <a:bodyPr wrap="square" lIns="0" rIns="0">
            <a:spAutoFit/>
          </a:bodyPr>
          <a:lstStyle/>
          <a:p>
            <a:r>
              <a:rPr sz="2100" b="0">
                <a:solidFill>
                  <a:srgbClr val="183447"/>
                </a:solidFill>
                <a:latin typeface="Arial"/>
              </a:rPr>
              <a:t>Macro-F1 test: LR Full 0,8163; BERT ở seed chính 0,8146.</a:t>
            </a:r>
          </a:p>
        </p:txBody>
      </p:sp>
      <p:sp>
        <p:nvSpPr>
          <p:cNvPr id="11" name="TextBox 10"/>
          <p:cNvSpPr txBox="1"/>
          <p:nvPr/>
        </p:nvSpPr>
        <p:spPr>
          <a:xfrm>
            <a:off x="658368" y="388620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2" name="TextBox 11"/>
          <p:cNvSpPr txBox="1"/>
          <p:nvPr/>
        </p:nvSpPr>
        <p:spPr>
          <a:xfrm>
            <a:off x="941832" y="3886200"/>
            <a:ext cx="10561320" cy="576072"/>
          </a:xfrm>
          <a:prstGeom prst="rect">
            <a:avLst/>
          </a:prstGeom>
          <a:noFill/>
        </p:spPr>
        <p:txBody>
          <a:bodyPr wrap="square" lIns="0" rIns="0">
            <a:spAutoFit/>
          </a:bodyPr>
          <a:lstStyle/>
          <a:p>
            <a:r>
              <a:rPr sz="2100" b="0">
                <a:solidFill>
                  <a:srgbClr val="183447"/>
                </a:solidFill>
                <a:latin typeface="Arial"/>
              </a:rPr>
              <a:t>Nhóm thực hiện: [điền họ tên và MSSV]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Bài toán và ba câu hỏi nghiên cứu</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2</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576072"/>
          </a:xfrm>
          <a:prstGeom prst="rect">
            <a:avLst/>
          </a:prstGeom>
          <a:noFill/>
        </p:spPr>
        <p:txBody>
          <a:bodyPr wrap="square" lIns="0" rIns="0">
            <a:spAutoFit/>
          </a:bodyPr>
          <a:lstStyle/>
          <a:p>
            <a:r>
              <a:rPr sz="2100" b="0">
                <a:solidFill>
                  <a:srgbClr val="183447"/>
                </a:solidFill>
                <a:latin typeface="Arial"/>
              </a:rPr>
              <a:t>Đầu vào là câu gốc và vị trí bắt đầu, kết thúc của đoạn lỗi.</a:t>
            </a:r>
          </a:p>
        </p:txBody>
      </p:sp>
      <p:sp>
        <p:nvSpPr>
          <p:cNvPr id="8" name="TextBox 7"/>
          <p:cNvSpPr txBox="1"/>
          <p:nvPr/>
        </p:nvSpPr>
        <p:spPr>
          <a:xfrm>
            <a:off x="658368" y="21031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103120"/>
            <a:ext cx="10561320" cy="576072"/>
          </a:xfrm>
          <a:prstGeom prst="rect">
            <a:avLst/>
          </a:prstGeom>
          <a:noFill/>
        </p:spPr>
        <p:txBody>
          <a:bodyPr wrap="square" lIns="0" rIns="0">
            <a:spAutoFit/>
          </a:bodyPr>
          <a:lstStyle/>
          <a:p>
            <a:r>
              <a:rPr sz="2100" b="0">
                <a:solidFill>
                  <a:srgbClr val="183447"/>
                </a:solidFill>
                <a:latin typeface="Arial"/>
              </a:rPr>
              <a:t>Đầu ra: ArtOrDet, Prep, Nn, Vform hoặc SVA.</a:t>
            </a:r>
          </a:p>
        </p:txBody>
      </p:sp>
      <p:sp>
        <p:nvSpPr>
          <p:cNvPr id="10" name="TextBox 9"/>
          <p:cNvSpPr txBox="1"/>
          <p:nvPr/>
        </p:nvSpPr>
        <p:spPr>
          <a:xfrm>
            <a:off x="658368" y="27889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788920"/>
            <a:ext cx="10561320" cy="576072"/>
          </a:xfrm>
          <a:prstGeom prst="rect">
            <a:avLst/>
          </a:prstGeom>
          <a:noFill/>
        </p:spPr>
        <p:txBody>
          <a:bodyPr wrap="square" lIns="0" rIns="0">
            <a:spAutoFit/>
          </a:bodyPr>
          <a:lstStyle/>
          <a:p>
            <a:r>
              <a:rPr sz="2100" b="0">
                <a:solidFill>
                  <a:srgbClr val="183447"/>
                </a:solidFill>
                <a:latin typeface="Arial"/>
              </a:rPr>
              <a:t>RQ1: LR/Tree so với Majority và POS rule tốt đến đâu?</a:t>
            </a:r>
          </a:p>
        </p:txBody>
      </p:sp>
      <p:sp>
        <p:nvSpPr>
          <p:cNvPr id="12" name="TextBox 11"/>
          <p:cNvSpPr txBox="1"/>
          <p:nvPr/>
        </p:nvSpPr>
        <p:spPr>
          <a:xfrm>
            <a:off x="658368" y="34747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474720"/>
            <a:ext cx="10561320" cy="576072"/>
          </a:xfrm>
          <a:prstGeom prst="rect">
            <a:avLst/>
          </a:prstGeom>
          <a:noFill/>
        </p:spPr>
        <p:txBody>
          <a:bodyPr wrap="square" lIns="0" rIns="0">
            <a:spAutoFit/>
          </a:bodyPr>
          <a:lstStyle/>
          <a:p>
            <a:r>
              <a:rPr sz="2100" b="0">
                <a:solidFill>
                  <a:srgbClr val="183447"/>
                </a:solidFill>
                <a:latin typeface="Arial"/>
              </a:rPr>
              <a:t>RQ2: từ vựng, POS, hình thái và quan hệ cú pháp có ích ra sao?</a:t>
            </a:r>
          </a:p>
        </p:txBody>
      </p:sp>
      <p:sp>
        <p:nvSpPr>
          <p:cNvPr id="14" name="TextBox 13"/>
          <p:cNvSpPr txBox="1"/>
          <p:nvPr/>
        </p:nvSpPr>
        <p:spPr>
          <a:xfrm>
            <a:off x="658368" y="41605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5" name="TextBox 14"/>
          <p:cNvSpPr txBox="1"/>
          <p:nvPr/>
        </p:nvSpPr>
        <p:spPr>
          <a:xfrm>
            <a:off x="941832" y="4160520"/>
            <a:ext cx="10561320" cy="576072"/>
          </a:xfrm>
          <a:prstGeom prst="rect">
            <a:avLst/>
          </a:prstGeom>
          <a:noFill/>
        </p:spPr>
        <p:txBody>
          <a:bodyPr wrap="square" lIns="0" rIns="0">
            <a:spAutoFit/>
          </a:bodyPr>
          <a:lstStyle/>
          <a:p>
            <a:r>
              <a:rPr sz="2100" b="0">
                <a:solidFill>
                  <a:srgbClr val="183447"/>
                </a:solidFill>
                <a:latin typeface="Arial"/>
              </a:rPr>
              <a:t>RQ3: mô hình còn nhầm những loại lỗi nào và trong trường hợp nào?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Dữ liệu và tránh rò rỉ</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3</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576072"/>
          </a:xfrm>
          <a:prstGeom prst="rect">
            <a:avLst/>
          </a:prstGeom>
          <a:noFill/>
        </p:spPr>
        <p:txBody>
          <a:bodyPr wrap="square" lIns="0" rIns="0">
            <a:spAutoFit/>
          </a:bodyPr>
          <a:lstStyle/>
          <a:p>
            <a:r>
              <a:rPr sz="2100" b="0">
                <a:solidFill>
                  <a:srgbClr val="183447"/>
                </a:solidFill>
                <a:latin typeface="Arial"/>
              </a:rPr>
              <a:t>Từ 44.912 annotation trong 1.397 bài, giữ 15.788 mẫu thuộc năm nhãn.</a:t>
            </a:r>
          </a:p>
        </p:txBody>
      </p:sp>
      <p:sp>
        <p:nvSpPr>
          <p:cNvPr id="8" name="TextBox 7"/>
          <p:cNvSpPr txBox="1"/>
          <p:nvPr/>
        </p:nvSpPr>
        <p:spPr>
          <a:xfrm>
            <a:off x="658368" y="21031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103120"/>
            <a:ext cx="10561320" cy="576072"/>
          </a:xfrm>
          <a:prstGeom prst="rect">
            <a:avLst/>
          </a:prstGeom>
          <a:noFill/>
        </p:spPr>
        <p:txBody>
          <a:bodyPr wrap="square" lIns="0" rIns="0">
            <a:spAutoFit/>
          </a:bodyPr>
          <a:lstStyle/>
          <a:p>
            <a:r>
              <a:rPr sz="2100" b="0">
                <a:solidFill>
                  <a:srgbClr val="183447"/>
                </a:solidFill>
                <a:latin typeface="Arial"/>
              </a:rPr>
              <a:t>Train 11.052 • Validation 2.368 • Test 2.368.</a:t>
            </a:r>
          </a:p>
        </p:txBody>
      </p:sp>
      <p:sp>
        <p:nvSpPr>
          <p:cNvPr id="10" name="TextBox 9"/>
          <p:cNvSpPr txBox="1"/>
          <p:nvPr/>
        </p:nvSpPr>
        <p:spPr>
          <a:xfrm>
            <a:off x="658368" y="27889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788920"/>
            <a:ext cx="10561320" cy="576072"/>
          </a:xfrm>
          <a:prstGeom prst="rect">
            <a:avLst/>
          </a:prstGeom>
          <a:noFill/>
        </p:spPr>
        <p:txBody>
          <a:bodyPr wrap="square" lIns="0" rIns="0">
            <a:spAutoFit/>
          </a:bodyPr>
          <a:lstStyle/>
          <a:p>
            <a:r>
              <a:rPr sz="2100" b="0">
                <a:solidFill>
                  <a:srgbClr val="183447"/>
                </a:solidFill>
                <a:latin typeface="Arial"/>
              </a:rPr>
              <a:t>Các bài có nội dung trùng được gom cùng nhóm trước khi chia tập.</a:t>
            </a:r>
          </a:p>
        </p:txBody>
      </p:sp>
      <p:sp>
        <p:nvSpPr>
          <p:cNvPr id="12" name="TextBox 11"/>
          <p:cNvSpPr txBox="1"/>
          <p:nvPr/>
        </p:nvSpPr>
        <p:spPr>
          <a:xfrm>
            <a:off x="658368" y="34747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474720"/>
            <a:ext cx="10561320" cy="576072"/>
          </a:xfrm>
          <a:prstGeom prst="rect">
            <a:avLst/>
          </a:prstGeom>
          <a:noFill/>
        </p:spPr>
        <p:txBody>
          <a:bodyPr wrap="square" lIns="0" rIns="0">
            <a:spAutoFit/>
          </a:bodyPr>
          <a:lstStyle/>
          <a:p>
            <a:r>
              <a:rPr sz="2100" b="0">
                <a:solidFill>
                  <a:srgbClr val="183447"/>
                </a:solidFill>
                <a:latin typeface="Arial"/>
              </a:rPr>
              <a:t>Encoder chỉ học từ train; test có 144 bài thuộc 97 nhóm.</a:t>
            </a:r>
          </a:p>
        </p:txBody>
      </p:sp>
      <p:sp>
        <p:nvSpPr>
          <p:cNvPr id="14" name="TextBox 13"/>
          <p:cNvSpPr txBox="1"/>
          <p:nvPr/>
        </p:nvSpPr>
        <p:spPr>
          <a:xfrm>
            <a:off x="658368" y="41605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5" name="TextBox 14"/>
          <p:cNvSpPr txBox="1"/>
          <p:nvPr/>
        </p:nvSpPr>
        <p:spPr>
          <a:xfrm>
            <a:off x="941832" y="4160520"/>
            <a:ext cx="10561320" cy="576072"/>
          </a:xfrm>
          <a:prstGeom prst="rect">
            <a:avLst/>
          </a:prstGeom>
          <a:noFill/>
        </p:spPr>
        <p:txBody>
          <a:bodyPr wrap="square" lIns="0" rIns="0">
            <a:spAutoFit/>
          </a:bodyPr>
          <a:lstStyle/>
          <a:p>
            <a:r>
              <a:rPr sz="2100" b="0">
                <a:solidFill>
                  <a:srgbClr val="183447"/>
                </a:solidFill>
                <a:latin typeface="Arial"/>
              </a:rPr>
              <a:t>ArtOrDet chiếm khoảng 42%, nên cần xem macro-F1 bên cạnh accuracy.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Từ dữ liệu đến kết quả: ba phần công việc</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4</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749808"/>
          </a:xfrm>
          <a:prstGeom prst="rect">
            <a:avLst/>
          </a:prstGeom>
          <a:noFill/>
        </p:spPr>
        <p:txBody>
          <a:bodyPr wrap="square" lIns="0" rIns="0">
            <a:spAutoFit/>
          </a:bodyPr>
          <a:lstStyle/>
          <a:p>
            <a:r>
              <a:rPr sz="2100" b="0">
                <a:solidFill>
                  <a:srgbClr val="183447"/>
                </a:solidFill>
                <a:latin typeface="Arial"/>
              </a:rPr>
              <a:t>1. Dữ liệu và đặc trưng: đọc SGML, kiểm offset, chia tập, chạy spaCy và mã hóa S/L/P/M/D.</a:t>
            </a:r>
          </a:p>
        </p:txBody>
      </p:sp>
      <p:sp>
        <p:nvSpPr>
          <p:cNvPr id="8" name="TextBox 7"/>
          <p:cNvSpPr txBox="1"/>
          <p:nvPr/>
        </p:nvSpPr>
        <p:spPr>
          <a:xfrm>
            <a:off x="658368" y="2276856"/>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276856"/>
            <a:ext cx="10561320" cy="576072"/>
          </a:xfrm>
          <a:prstGeom prst="rect">
            <a:avLst/>
          </a:prstGeom>
          <a:noFill/>
        </p:spPr>
        <p:txBody>
          <a:bodyPr wrap="square" lIns="0" rIns="0">
            <a:spAutoFit/>
          </a:bodyPr>
          <a:lstStyle/>
          <a:p>
            <a:r>
              <a:rPr sz="2100" b="0">
                <a:solidFill>
                  <a:srgbClr val="183447"/>
                </a:solidFill>
                <a:latin typeface="Arial"/>
              </a:rPr>
              <a:t>2. Mô hình: huấn luyện các đối chứng, LR, Tree và BERT-small.</a:t>
            </a:r>
          </a:p>
        </p:txBody>
      </p:sp>
      <p:sp>
        <p:nvSpPr>
          <p:cNvPr id="10" name="TextBox 9"/>
          <p:cNvSpPr txBox="1"/>
          <p:nvPr/>
        </p:nvSpPr>
        <p:spPr>
          <a:xfrm>
            <a:off x="658368" y="2962656"/>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962656"/>
            <a:ext cx="10561320" cy="576072"/>
          </a:xfrm>
          <a:prstGeom prst="rect">
            <a:avLst/>
          </a:prstGeom>
          <a:noFill/>
        </p:spPr>
        <p:txBody>
          <a:bodyPr wrap="square" lIns="0" rIns="0">
            <a:spAutoFit/>
          </a:bodyPr>
          <a:lstStyle/>
          <a:p>
            <a:r>
              <a:rPr sz="2100" b="0">
                <a:solidFill>
                  <a:srgbClr val="183447"/>
                </a:solidFill>
                <a:latin typeface="Arial"/>
              </a:rPr>
              <a:t>3. Đánh giá: khóa lựa chọn, chấm test, tính CI, đọc lỗi và viết báo cáo.</a:t>
            </a:r>
          </a:p>
        </p:txBody>
      </p:sp>
      <p:sp>
        <p:nvSpPr>
          <p:cNvPr id="12" name="TextBox 11"/>
          <p:cNvSpPr txBox="1"/>
          <p:nvPr/>
        </p:nvSpPr>
        <p:spPr>
          <a:xfrm>
            <a:off x="658368" y="3648456"/>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648456"/>
            <a:ext cx="10561320" cy="576072"/>
          </a:xfrm>
          <a:prstGeom prst="rect">
            <a:avLst/>
          </a:prstGeom>
          <a:noFill/>
        </p:spPr>
        <p:txBody>
          <a:bodyPr wrap="square" lIns="0" rIns="0">
            <a:spAutoFit/>
          </a:bodyPr>
          <a:lstStyle/>
          <a:p>
            <a:r>
              <a:rPr sz="2100" b="0">
                <a:solidFill>
                  <a:srgbClr val="183447"/>
                </a:solidFill>
                <a:latin typeface="Arial"/>
              </a:rPr>
              <a:t>BERT nhận câu có đánh dấu span; LR/Tree nhận vector đặc trưng.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Thiết kế mô hình và lựa chọn</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5</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576072"/>
          </a:xfrm>
          <a:prstGeom prst="rect">
            <a:avLst/>
          </a:prstGeom>
          <a:noFill/>
        </p:spPr>
        <p:txBody>
          <a:bodyPr wrap="square" lIns="0" rIns="0">
            <a:spAutoFit/>
          </a:bodyPr>
          <a:lstStyle/>
          <a:p>
            <a:r>
              <a:rPr sz="2100" b="0">
                <a:solidFill>
                  <a:srgbClr val="183447"/>
                </a:solidFill>
                <a:latin typeface="Arial"/>
              </a:rPr>
              <a:t>LR phân loại đa lớp; Tree chia nhánh theo Gini với giới hạn độ sâu và kích thước lá.</a:t>
            </a:r>
          </a:p>
        </p:txBody>
      </p:sp>
      <p:sp>
        <p:nvSpPr>
          <p:cNvPr id="8" name="TextBox 7"/>
          <p:cNvSpPr txBox="1"/>
          <p:nvPr/>
        </p:nvSpPr>
        <p:spPr>
          <a:xfrm>
            <a:off x="658368" y="21031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103120"/>
            <a:ext cx="10561320" cy="576072"/>
          </a:xfrm>
          <a:prstGeom prst="rect">
            <a:avLst/>
          </a:prstGeom>
          <a:noFill/>
        </p:spPr>
        <p:txBody>
          <a:bodyPr wrap="square" lIns="0" rIns="0">
            <a:spAutoFit/>
          </a:bodyPr>
          <a:lstStyle/>
          <a:p>
            <a:r>
              <a:rPr sz="2100" b="0">
                <a:solidFill>
                  <a:srgbClr val="183447"/>
                </a:solidFill>
                <a:latin typeface="Arial"/>
              </a:rPr>
              <a:t>Chọn cấu hình bằng validation; mô hình cuối vẫn chỉ được học từ train.</a:t>
            </a:r>
          </a:p>
        </p:txBody>
      </p:sp>
      <p:sp>
        <p:nvSpPr>
          <p:cNvPr id="10" name="TextBox 9"/>
          <p:cNvSpPr txBox="1"/>
          <p:nvPr/>
        </p:nvSpPr>
        <p:spPr>
          <a:xfrm>
            <a:off x="658368" y="27889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788920"/>
            <a:ext cx="10561320" cy="576072"/>
          </a:xfrm>
          <a:prstGeom prst="rect">
            <a:avLst/>
          </a:prstGeom>
          <a:noFill/>
        </p:spPr>
        <p:txBody>
          <a:bodyPr wrap="square" lIns="0" rIns="0">
            <a:spAutoFit/>
          </a:bodyPr>
          <a:lstStyle/>
          <a:p>
            <a:r>
              <a:rPr sz="2100" b="0">
                <a:solidFill>
                  <a:srgbClr val="183447"/>
                </a:solidFill>
                <a:latin typeface="Arial"/>
              </a:rPr>
              <a:t>Bỏ hoặc che từng nhóm đặc trưng để xem điểm thay đổi thế nào.</a:t>
            </a:r>
          </a:p>
        </p:txBody>
      </p:sp>
      <p:sp>
        <p:nvSpPr>
          <p:cNvPr id="12" name="TextBox 11"/>
          <p:cNvSpPr txBox="1"/>
          <p:nvPr/>
        </p:nvSpPr>
        <p:spPr>
          <a:xfrm>
            <a:off x="658368" y="34747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474720"/>
            <a:ext cx="10561320" cy="576072"/>
          </a:xfrm>
          <a:prstGeom prst="rect">
            <a:avLst/>
          </a:prstGeom>
          <a:noFill/>
        </p:spPr>
        <p:txBody>
          <a:bodyPr wrap="square" lIns="0" rIns="0">
            <a:spAutoFit/>
          </a:bodyPr>
          <a:lstStyle/>
          <a:p>
            <a:r>
              <a:rPr sz="2100" b="0">
                <a:solidFill>
                  <a:srgbClr val="183447"/>
                </a:solidFill>
                <a:latin typeface="Arial"/>
              </a:rPr>
              <a:t>BERT-small có 2 layer, hidden size 128 và 2 head; fine-tune toàn bộ tham số.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Từ BERT ban đầu đến đợt mở rộng</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6</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576072"/>
          </a:xfrm>
          <a:prstGeom prst="rect">
            <a:avLst/>
          </a:prstGeom>
          <a:noFill/>
        </p:spPr>
        <p:txBody>
          <a:bodyPr wrap="square" lIns="0" rIns="0">
            <a:spAutoFit/>
          </a:bodyPr>
          <a:lstStyle/>
          <a:p>
            <a:r>
              <a:rPr sz="2100" b="0">
                <a:solidFill>
                  <a:srgbClr val="183447"/>
                </a:solidFill>
                <a:latin typeface="Arial"/>
              </a:rPr>
              <a:t>Đợt đầu: pooled CLS, 5 epochs → validation F1 0,1984 ± 0,0030.</a:t>
            </a:r>
          </a:p>
        </p:txBody>
      </p:sp>
      <p:sp>
        <p:nvSpPr>
          <p:cNvPr id="8" name="TextBox 7"/>
          <p:cNvSpPr txBox="1"/>
          <p:nvPr/>
        </p:nvSpPr>
        <p:spPr>
          <a:xfrm>
            <a:off x="658368" y="21031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103120"/>
            <a:ext cx="10561320" cy="576072"/>
          </a:xfrm>
          <a:prstGeom prst="rect">
            <a:avLst/>
          </a:prstGeom>
          <a:noFill/>
        </p:spPr>
        <p:txBody>
          <a:bodyPr wrap="square" lIns="0" rIns="0">
            <a:spAutoFit/>
          </a:bodyPr>
          <a:lstStyle/>
          <a:p>
            <a:r>
              <a:rPr sz="2100" b="0">
                <a:solidFill>
                  <a:srgbClr val="183447"/>
                </a:solidFill>
                <a:latin typeface="Arial"/>
              </a:rPr>
              <a:t>Kiểm trên 100 mẫu train cho thấy mô hình có thể học thuộc và nhận được gradient.</a:t>
            </a:r>
          </a:p>
        </p:txBody>
      </p:sp>
      <p:sp>
        <p:nvSpPr>
          <p:cNvPr id="10" name="TextBox 9"/>
          <p:cNvSpPr txBox="1"/>
          <p:nvPr/>
        </p:nvSpPr>
        <p:spPr>
          <a:xfrm>
            <a:off x="658368" y="27889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788920"/>
            <a:ext cx="10561320" cy="576072"/>
          </a:xfrm>
          <a:prstGeom prst="rect">
            <a:avLst/>
          </a:prstGeom>
          <a:noFill/>
        </p:spPr>
        <p:txBody>
          <a:bodyPr wrap="square" lIns="0" rIns="0">
            <a:spAutoFit/>
          </a:bodyPr>
          <a:lstStyle/>
          <a:p>
            <a:r>
              <a:rPr sz="2100" b="0">
                <a:solidFill>
                  <a:srgbClr val="183447"/>
                </a:solidFill>
                <a:latin typeface="Arial"/>
              </a:rPr>
              <a:t>Đợt mới: 2 cách lấy biểu diễn × 2 head LR × 3 seed = 12 lượt; encoder LR 5e−5.</a:t>
            </a:r>
          </a:p>
        </p:txBody>
      </p:sp>
      <p:sp>
        <p:nvSpPr>
          <p:cNvPr id="12" name="TextBox 11"/>
          <p:cNvSpPr txBox="1"/>
          <p:nvPr/>
        </p:nvSpPr>
        <p:spPr>
          <a:xfrm>
            <a:off x="658368" y="34747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474720"/>
            <a:ext cx="10561320" cy="576072"/>
          </a:xfrm>
          <a:prstGeom prst="rect">
            <a:avLst/>
          </a:prstGeom>
          <a:noFill/>
        </p:spPr>
        <p:txBody>
          <a:bodyPr wrap="square" lIns="0" rIns="0">
            <a:spAutoFit/>
          </a:bodyPr>
          <a:lstStyle/>
          <a:p>
            <a:r>
              <a:rPr sz="2100" b="0">
                <a:solidFill>
                  <a:srgbClr val="183447"/>
                </a:solidFill>
                <a:latin typeface="Arial"/>
              </a:rPr>
              <a:t>Theo dõi train và validation qua tối đa 20 epochs, dừng sớm với patience 4.</a:t>
            </a:r>
          </a:p>
        </p:txBody>
      </p:sp>
      <p:sp>
        <p:nvSpPr>
          <p:cNvPr id="14" name="TextBox 13"/>
          <p:cNvSpPr txBox="1"/>
          <p:nvPr/>
        </p:nvSpPr>
        <p:spPr>
          <a:xfrm>
            <a:off x="658368" y="41605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5" name="TextBox 14"/>
          <p:cNvSpPr txBox="1"/>
          <p:nvPr/>
        </p:nvSpPr>
        <p:spPr>
          <a:xfrm>
            <a:off x="941832" y="4160520"/>
            <a:ext cx="10561320" cy="576072"/>
          </a:xfrm>
          <a:prstGeom prst="rect">
            <a:avLst/>
          </a:prstGeom>
          <a:noFill/>
        </p:spPr>
        <p:txBody>
          <a:bodyPr wrap="square" lIns="0" rIns="0">
            <a:spAutoFit/>
          </a:bodyPr>
          <a:lstStyle/>
          <a:p>
            <a:r>
              <a:rPr sz="2100" b="0">
                <a:solidFill>
                  <a:srgbClr val="183447"/>
                </a:solidFill>
                <a:latin typeface="Arial"/>
              </a:rPr>
              <a:t>Hai đợt khác cả cách lấy biểu diễn lẫn thiết lập huấn luyện.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Chọn BERT bằng validation, không chọn seed test</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7</a:t>
            </a:r>
          </a:p>
        </p:txBody>
      </p:sp>
      <p:graphicFrame>
        <p:nvGraphicFramePr>
          <p:cNvPr id="6" name="Table 5"/>
          <p:cNvGraphicFramePr>
            <a:graphicFrameLocks noGrp="1"/>
          </p:cNvGraphicFramePr>
          <p:nvPr/>
        </p:nvGraphicFramePr>
        <p:xfrm>
          <a:off x="640080" y="1325880"/>
          <a:ext cx="10789920" cy="2560320"/>
        </p:xfrm>
        <a:graphic>
          <a:graphicData uri="http://schemas.openxmlformats.org/drawingml/2006/table">
            <a:tbl>
              <a:tblPr firstRow="1" bandRow="1">
                <a:tableStyleId>{5C22544A-7EE6-4342-B048-85BDC9FD1C3A}</a:tableStyleId>
              </a:tblPr>
              <a:tblGrid>
                <a:gridCol w="3596640"/>
                <a:gridCol w="3596640"/>
                <a:gridCol w="3596640"/>
              </a:tblGrid>
              <a:tr h="512064">
                <a:tc>
                  <a:txBody>
                    <a:bodyPr/>
                    <a:lstStyle/>
                    <a:p>
                      <a:r>
                        <a:rPr sz="2000">
                          <a:solidFill>
                            <a:srgbClr val="183447"/>
                          </a:solidFill>
                          <a:latin typeface="Arial"/>
                        </a:rPr>
                        <a:t>Readout</a:t>
                      </a:r>
                    </a:p>
                  </a:txBody>
                  <a:tcPr>
                    <a:solidFill>
                      <a:srgbClr val="DFEDF0"/>
                    </a:solidFill>
                  </a:tcPr>
                </a:tc>
                <a:tc>
                  <a:txBody>
                    <a:bodyPr/>
                    <a:lstStyle/>
                    <a:p>
                      <a:r>
                        <a:rPr sz="2000">
                          <a:solidFill>
                            <a:srgbClr val="183447"/>
                          </a:solidFill>
                          <a:latin typeface="Arial"/>
                        </a:rPr>
                        <a:t>Head LR</a:t>
                      </a:r>
                    </a:p>
                  </a:txBody>
                  <a:tcPr>
                    <a:solidFill>
                      <a:srgbClr val="DFEDF0"/>
                    </a:solidFill>
                  </a:tcPr>
                </a:tc>
                <a:tc>
                  <a:txBody>
                    <a:bodyPr/>
                    <a:lstStyle/>
                    <a:p>
                      <a:r>
                        <a:rPr sz="2000">
                          <a:solidFill>
                            <a:srgbClr val="183447"/>
                          </a:solidFill>
                          <a:latin typeface="Arial"/>
                        </a:rPr>
                        <a:t>Val macro-F1 mean ± std</a:t>
                      </a:r>
                    </a:p>
                  </a:txBody>
                  <a:tcPr>
                    <a:solidFill>
                      <a:srgbClr val="DFEDF0"/>
                    </a:solidFill>
                  </a:tcPr>
                </a:tc>
              </a:tr>
              <a:tr h="512064">
                <a:tc>
                  <a:txBody>
                    <a:bodyPr/>
                    <a:lstStyle/>
                    <a:p>
                      <a:r>
                        <a:rPr sz="2000">
                          <a:solidFill>
                            <a:srgbClr val="183447"/>
                          </a:solidFill>
                          <a:latin typeface="Arial"/>
                        </a:rPr>
                        <a:t>CLS</a:t>
                      </a:r>
                    </a:p>
                  </a:txBody>
                  <a:tcPr>
                    <a:solidFill>
                      <a:srgbClr val="F3F7F9"/>
                    </a:solidFill>
                  </a:tcPr>
                </a:tc>
                <a:tc>
                  <a:txBody>
                    <a:bodyPr/>
                    <a:lstStyle/>
                    <a:p>
                      <a:r>
                        <a:rPr sz="2000">
                          <a:solidFill>
                            <a:srgbClr val="183447"/>
                          </a:solidFill>
                          <a:latin typeface="Arial"/>
                        </a:rPr>
                        <a:t>1e−4</a:t>
                      </a:r>
                    </a:p>
                  </a:txBody>
                  <a:tcPr>
                    <a:solidFill>
                      <a:srgbClr val="F3F7F9"/>
                    </a:solidFill>
                  </a:tcPr>
                </a:tc>
                <a:tc>
                  <a:txBody>
                    <a:bodyPr/>
                    <a:lstStyle/>
                    <a:p>
                      <a:r>
                        <a:rPr sz="2000">
                          <a:solidFill>
                            <a:srgbClr val="183447"/>
                          </a:solidFill>
                          <a:latin typeface="Arial"/>
                        </a:rPr>
                        <a:t>0,7164 ± 0,0061</a:t>
                      </a:r>
                    </a:p>
                  </a:txBody>
                  <a:tcPr>
                    <a:solidFill>
                      <a:srgbClr val="F3F7F9"/>
                    </a:solidFill>
                  </a:tcPr>
                </a:tc>
              </a:tr>
              <a:tr h="512064">
                <a:tc>
                  <a:txBody>
                    <a:bodyPr/>
                    <a:lstStyle/>
                    <a:p>
                      <a:r>
                        <a:rPr sz="2000">
                          <a:solidFill>
                            <a:srgbClr val="183447"/>
                          </a:solidFill>
                          <a:latin typeface="Arial"/>
                        </a:rPr>
                        <a:t>CLS</a:t>
                      </a:r>
                    </a:p>
                  </a:txBody>
                  <a:tcPr>
                    <a:solidFill>
                      <a:srgbClr val="FFFFFF"/>
                    </a:solidFill>
                  </a:tcPr>
                </a:tc>
                <a:tc>
                  <a:txBody>
                    <a:bodyPr/>
                    <a:lstStyle/>
                    <a:p>
                      <a:r>
                        <a:rPr sz="2000">
                          <a:solidFill>
                            <a:srgbClr val="183447"/>
                          </a:solidFill>
                          <a:latin typeface="Arial"/>
                        </a:rPr>
                        <a:t>1e−3</a:t>
                      </a:r>
                    </a:p>
                  </a:txBody>
                  <a:tcPr>
                    <a:solidFill>
                      <a:srgbClr val="FFFFFF"/>
                    </a:solidFill>
                  </a:tcPr>
                </a:tc>
                <a:tc>
                  <a:txBody>
                    <a:bodyPr/>
                    <a:lstStyle/>
                    <a:p>
                      <a:r>
                        <a:rPr sz="2000">
                          <a:solidFill>
                            <a:srgbClr val="183447"/>
                          </a:solidFill>
                          <a:latin typeface="Arial"/>
                        </a:rPr>
                        <a:t>0,7227 ± 0,0147</a:t>
                      </a:r>
                    </a:p>
                  </a:txBody>
                  <a:tcPr>
                    <a:solidFill>
                      <a:srgbClr val="FFFFFF"/>
                    </a:solidFill>
                  </a:tcPr>
                </a:tc>
              </a:tr>
              <a:tr h="512064">
                <a:tc>
                  <a:txBody>
                    <a:bodyPr/>
                    <a:lstStyle/>
                    <a:p>
                      <a:r>
                        <a:rPr sz="2000">
                          <a:solidFill>
                            <a:srgbClr val="183447"/>
                          </a:solidFill>
                          <a:latin typeface="Arial"/>
                        </a:rPr>
                        <a:t>Span mean</a:t>
                      </a:r>
                    </a:p>
                  </a:txBody>
                  <a:tcPr>
                    <a:solidFill>
                      <a:srgbClr val="F3F7F9"/>
                    </a:solidFill>
                  </a:tcPr>
                </a:tc>
                <a:tc>
                  <a:txBody>
                    <a:bodyPr/>
                    <a:lstStyle/>
                    <a:p>
                      <a:r>
                        <a:rPr sz="2000">
                          <a:solidFill>
                            <a:srgbClr val="183447"/>
                          </a:solidFill>
                          <a:latin typeface="Arial"/>
                        </a:rPr>
                        <a:t>1e−4</a:t>
                      </a:r>
                    </a:p>
                  </a:txBody>
                  <a:tcPr>
                    <a:solidFill>
                      <a:srgbClr val="F3F7F9"/>
                    </a:solidFill>
                  </a:tcPr>
                </a:tc>
                <a:tc>
                  <a:txBody>
                    <a:bodyPr/>
                    <a:lstStyle/>
                    <a:p>
                      <a:r>
                        <a:rPr sz="2000">
                          <a:solidFill>
                            <a:srgbClr val="183447"/>
                          </a:solidFill>
                          <a:latin typeface="Arial"/>
                        </a:rPr>
                        <a:t>0,8183 ± 0,0011</a:t>
                      </a:r>
                    </a:p>
                  </a:txBody>
                  <a:tcPr>
                    <a:solidFill>
                      <a:srgbClr val="F3F7F9"/>
                    </a:solidFill>
                  </a:tcPr>
                </a:tc>
              </a:tr>
              <a:tr h="512064">
                <a:tc>
                  <a:txBody>
                    <a:bodyPr/>
                    <a:lstStyle/>
                    <a:p>
                      <a:r>
                        <a:rPr sz="2000">
                          <a:solidFill>
                            <a:srgbClr val="183447"/>
                          </a:solidFill>
                          <a:latin typeface="Arial"/>
                        </a:rPr>
                        <a:t>Span mean</a:t>
                      </a:r>
                    </a:p>
                  </a:txBody>
                  <a:tcPr>
                    <a:solidFill>
                      <a:srgbClr val="FFFFFF"/>
                    </a:solidFill>
                  </a:tcPr>
                </a:tc>
                <a:tc>
                  <a:txBody>
                    <a:bodyPr/>
                    <a:lstStyle/>
                    <a:p>
                      <a:r>
                        <a:rPr sz="2000">
                          <a:solidFill>
                            <a:srgbClr val="183447"/>
                          </a:solidFill>
                          <a:latin typeface="Arial"/>
                        </a:rPr>
                        <a:t>1e−3</a:t>
                      </a:r>
                    </a:p>
                  </a:txBody>
                  <a:tcPr>
                    <a:solidFill>
                      <a:srgbClr val="FFFFFF"/>
                    </a:solidFill>
                  </a:tcPr>
                </a:tc>
                <a:tc>
                  <a:txBody>
                    <a:bodyPr/>
                    <a:lstStyle/>
                    <a:p>
                      <a:r>
                        <a:rPr sz="2000">
                          <a:solidFill>
                            <a:srgbClr val="183447"/>
                          </a:solidFill>
                          <a:latin typeface="Arial"/>
                        </a:rPr>
                        <a:t>0,8177 ± 0,0022</a:t>
                      </a:r>
                    </a:p>
                  </a:txBody>
                  <a:tcPr>
                    <a:solidFill>
                      <a:srgbClr val="FFFFFF"/>
                    </a:solidFill>
                  </a:tcPr>
                </a:tc>
              </a:tr>
            </a:tbl>
          </a:graphicData>
        </a:graphic>
      </p:graphicFrame>
      <p:sp>
        <p:nvSpPr>
          <p:cNvPr id="7" name="TextBox 6"/>
          <p:cNvSpPr txBox="1"/>
          <p:nvPr/>
        </p:nvSpPr>
        <p:spPr>
          <a:xfrm>
            <a:off x="658368" y="425196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8" name="TextBox 7"/>
          <p:cNvSpPr txBox="1"/>
          <p:nvPr/>
        </p:nvSpPr>
        <p:spPr>
          <a:xfrm>
            <a:off x="941832" y="4251960"/>
            <a:ext cx="10561320" cy="576072"/>
          </a:xfrm>
          <a:prstGeom prst="rect">
            <a:avLst/>
          </a:prstGeom>
          <a:noFill/>
        </p:spPr>
        <p:txBody>
          <a:bodyPr wrap="square" lIns="0" rIns="0">
            <a:spAutoFit/>
          </a:bodyPr>
          <a:lstStyle/>
          <a:p>
            <a:r>
              <a:rPr sz="2100" b="0">
                <a:solidFill>
                  <a:srgbClr val="183447"/>
                </a:solidFill>
                <a:latin typeface="Arial"/>
              </a:rPr>
              <a:t>Chọn span mean và head LR 1e−4. Seed chính là 20261013, lấy checkpoint epoch 18.</a:t>
            </a:r>
          </a:p>
        </p:txBody>
      </p:sp>
      <p:sp>
        <p:nvSpPr>
          <p:cNvPr id="9" name="TextBox 8"/>
          <p:cNvSpPr txBox="1"/>
          <p:nvPr/>
        </p:nvSpPr>
        <p:spPr>
          <a:xfrm>
            <a:off x="658368" y="493776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0" name="TextBox 9"/>
          <p:cNvSpPr txBox="1"/>
          <p:nvPr/>
        </p:nvSpPr>
        <p:spPr>
          <a:xfrm>
            <a:off x="941832" y="4937760"/>
            <a:ext cx="10561320" cy="576072"/>
          </a:xfrm>
          <a:prstGeom prst="rect">
            <a:avLst/>
          </a:prstGeom>
          <a:noFill/>
        </p:spPr>
        <p:txBody>
          <a:bodyPr wrap="square" lIns="0" rIns="0">
            <a:spAutoFit/>
          </a:bodyPr>
          <a:lstStyle/>
          <a:p>
            <a:r>
              <a:rPr sz="2100" b="0">
                <a:solidFill>
                  <a:srgbClr val="183447"/>
                </a:solidFill>
                <a:latin typeface="Arial"/>
              </a:rPr>
              <a:t>Test trung bình ba seed: 0,8182 ± 0,0038; độ lệch chuẩn này khác CI bootstrap.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Kết quả test trên cùng split</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8</a:t>
            </a:r>
          </a:p>
        </p:txBody>
      </p:sp>
      <p:pic>
        <p:nvPicPr>
          <p:cNvPr id="6" name="Picture 5" descr="benchmark_ci.png"/>
          <p:cNvPicPr>
            <a:picLocks noChangeAspect="1"/>
          </p:cNvPicPr>
          <p:nvPr/>
        </p:nvPicPr>
        <p:blipFill>
          <a:blip r:embed="rId2"/>
          <a:stretch>
            <a:fillRect/>
          </a:stretch>
        </p:blipFill>
        <p:spPr>
          <a:xfrm>
            <a:off x="2483967" y="1143000"/>
            <a:ext cx="7223760" cy="3611880"/>
          </a:xfrm>
          <a:prstGeom prst="rect">
            <a:avLst/>
          </a:prstGeom>
        </p:spPr>
      </p:pic>
      <p:sp>
        <p:nvSpPr>
          <p:cNvPr id="7" name="TextBox 6"/>
          <p:cNvSpPr txBox="1"/>
          <p:nvPr/>
        </p:nvSpPr>
        <p:spPr>
          <a:xfrm>
            <a:off x="658368" y="4892040"/>
            <a:ext cx="228600" cy="320040"/>
          </a:xfrm>
          <a:prstGeom prst="rect">
            <a:avLst/>
          </a:prstGeom>
          <a:noFill/>
        </p:spPr>
        <p:txBody>
          <a:bodyPr wrap="square" lIns="0" rIns="0">
            <a:spAutoFit/>
          </a:bodyPr>
          <a:lstStyle/>
          <a:p>
            <a:r>
              <a:rPr sz="1800" b="0">
                <a:solidFill>
                  <a:srgbClr val="C45B39"/>
                </a:solidFill>
                <a:latin typeface="Arial"/>
              </a:rPr>
              <a:t>•</a:t>
            </a:r>
          </a:p>
        </p:txBody>
      </p:sp>
      <p:sp>
        <p:nvSpPr>
          <p:cNvPr id="8" name="TextBox 7"/>
          <p:cNvSpPr txBox="1"/>
          <p:nvPr/>
        </p:nvSpPr>
        <p:spPr>
          <a:xfrm>
            <a:off x="941832" y="4892040"/>
            <a:ext cx="10561320" cy="576072"/>
          </a:xfrm>
          <a:prstGeom prst="rect">
            <a:avLst/>
          </a:prstGeom>
          <a:noFill/>
        </p:spPr>
        <p:txBody>
          <a:bodyPr wrap="square" lIns="0" rIns="0">
            <a:spAutoFit/>
          </a:bodyPr>
          <a:lstStyle/>
          <a:p>
            <a:r>
              <a:rPr sz="1800" b="0">
                <a:solidFill>
                  <a:srgbClr val="183447"/>
                </a:solidFill>
                <a:latin typeface="Arial"/>
              </a:rPr>
              <a:t>LR Full 0,8163 • BERT primary 0,8146 • Tree Full 0,7996 • POS 0,7106.</a:t>
            </a:r>
          </a:p>
        </p:txBody>
      </p:sp>
      <p:sp>
        <p:nvSpPr>
          <p:cNvPr id="9" name="TextBox 8"/>
          <p:cNvSpPr txBox="1"/>
          <p:nvPr/>
        </p:nvSpPr>
        <p:spPr>
          <a:xfrm>
            <a:off x="658368" y="5577840"/>
            <a:ext cx="228600" cy="320040"/>
          </a:xfrm>
          <a:prstGeom prst="rect">
            <a:avLst/>
          </a:prstGeom>
          <a:noFill/>
        </p:spPr>
        <p:txBody>
          <a:bodyPr wrap="square" lIns="0" rIns="0">
            <a:spAutoFit/>
          </a:bodyPr>
          <a:lstStyle/>
          <a:p>
            <a:r>
              <a:rPr sz="1800" b="0">
                <a:solidFill>
                  <a:srgbClr val="C45B39"/>
                </a:solidFill>
                <a:latin typeface="Arial"/>
              </a:rPr>
              <a:t>•</a:t>
            </a:r>
          </a:p>
        </p:txBody>
      </p:sp>
      <p:sp>
        <p:nvSpPr>
          <p:cNvPr id="10" name="TextBox 9"/>
          <p:cNvSpPr txBox="1"/>
          <p:nvPr/>
        </p:nvSpPr>
        <p:spPr>
          <a:xfrm>
            <a:off x="941832" y="5577840"/>
            <a:ext cx="10561320" cy="576072"/>
          </a:xfrm>
          <a:prstGeom prst="rect">
            <a:avLst/>
          </a:prstGeom>
          <a:noFill/>
        </p:spPr>
        <p:txBody>
          <a:bodyPr wrap="square" lIns="0" rIns="0">
            <a:spAutoFit/>
          </a:bodyPr>
          <a:lstStyle/>
          <a:p>
            <a:r>
              <a:rPr sz="1800" b="0">
                <a:solidFill>
                  <a:srgbClr val="183447"/>
                </a:solidFill>
                <a:latin typeface="Arial"/>
              </a:rPr>
              <a:t>BERT có accuracy 0,8438, cao hơn LR 0,8357, nhưng macro-F1 hơi thấp hơn.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Chênh lệch có chắc chắn không?</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9</a:t>
            </a:r>
          </a:p>
        </p:txBody>
      </p:sp>
      <p:pic>
        <p:nvPicPr>
          <p:cNvPr id="6" name="Picture 5" descr="paired_differences_focus.png"/>
          <p:cNvPicPr>
            <a:picLocks noChangeAspect="1"/>
          </p:cNvPicPr>
          <p:nvPr/>
        </p:nvPicPr>
        <p:blipFill>
          <a:blip r:embed="rId2"/>
          <a:stretch>
            <a:fillRect/>
          </a:stretch>
        </p:blipFill>
        <p:spPr>
          <a:xfrm>
            <a:off x="1298819" y="1143000"/>
            <a:ext cx="9594056" cy="3611880"/>
          </a:xfrm>
          <a:prstGeom prst="rect">
            <a:avLst/>
          </a:prstGeom>
        </p:spPr>
      </p:pic>
      <p:sp>
        <p:nvSpPr>
          <p:cNvPr id="7" name="TextBox 6"/>
          <p:cNvSpPr txBox="1"/>
          <p:nvPr/>
        </p:nvSpPr>
        <p:spPr>
          <a:xfrm>
            <a:off x="658368" y="4892040"/>
            <a:ext cx="228600" cy="320040"/>
          </a:xfrm>
          <a:prstGeom prst="rect">
            <a:avLst/>
          </a:prstGeom>
          <a:noFill/>
        </p:spPr>
        <p:txBody>
          <a:bodyPr wrap="square" lIns="0" rIns="0">
            <a:spAutoFit/>
          </a:bodyPr>
          <a:lstStyle/>
          <a:p>
            <a:r>
              <a:rPr sz="1800" b="0">
                <a:solidFill>
                  <a:srgbClr val="C45B39"/>
                </a:solidFill>
                <a:latin typeface="Arial"/>
              </a:rPr>
              <a:t>•</a:t>
            </a:r>
          </a:p>
        </p:txBody>
      </p:sp>
      <p:sp>
        <p:nvSpPr>
          <p:cNvPr id="8" name="TextBox 7"/>
          <p:cNvSpPr txBox="1"/>
          <p:nvPr/>
        </p:nvSpPr>
        <p:spPr>
          <a:xfrm>
            <a:off x="941832" y="4892040"/>
            <a:ext cx="10561320" cy="576072"/>
          </a:xfrm>
          <a:prstGeom prst="rect">
            <a:avLst/>
          </a:prstGeom>
          <a:noFill/>
        </p:spPr>
        <p:txBody>
          <a:bodyPr wrap="square" lIns="0" rIns="0">
            <a:spAutoFit/>
          </a:bodyPr>
          <a:lstStyle/>
          <a:p>
            <a:r>
              <a:rPr sz="1800" b="0">
                <a:solidFill>
                  <a:srgbClr val="183447"/>
                </a:solidFill>
                <a:latin typeface="Arial"/>
              </a:rPr>
              <a:t>BERT−LR: −0,0017; CI95% [−0,0184; 0,0182] → chưa đủ bằng chứng hơn/kém.</a:t>
            </a:r>
          </a:p>
        </p:txBody>
      </p:sp>
      <p:sp>
        <p:nvSpPr>
          <p:cNvPr id="9" name="TextBox 8"/>
          <p:cNvSpPr txBox="1"/>
          <p:nvPr/>
        </p:nvSpPr>
        <p:spPr>
          <a:xfrm>
            <a:off x="658368" y="5577840"/>
            <a:ext cx="228600" cy="320040"/>
          </a:xfrm>
          <a:prstGeom prst="rect">
            <a:avLst/>
          </a:prstGeom>
          <a:noFill/>
        </p:spPr>
        <p:txBody>
          <a:bodyPr wrap="square" lIns="0" rIns="0">
            <a:spAutoFit/>
          </a:bodyPr>
          <a:lstStyle/>
          <a:p>
            <a:r>
              <a:rPr sz="1800" b="0">
                <a:solidFill>
                  <a:srgbClr val="C45B39"/>
                </a:solidFill>
                <a:latin typeface="Arial"/>
              </a:rPr>
              <a:t>•</a:t>
            </a:r>
          </a:p>
        </p:txBody>
      </p:sp>
      <p:sp>
        <p:nvSpPr>
          <p:cNvPr id="10" name="TextBox 9"/>
          <p:cNvSpPr txBox="1"/>
          <p:nvPr/>
        </p:nvSpPr>
        <p:spPr>
          <a:xfrm>
            <a:off x="941832" y="5577840"/>
            <a:ext cx="10561320" cy="576072"/>
          </a:xfrm>
          <a:prstGeom prst="rect">
            <a:avLst/>
          </a:prstGeom>
          <a:noFill/>
        </p:spPr>
        <p:txBody>
          <a:bodyPr wrap="square" lIns="0" rIns="0">
            <a:spAutoFit/>
          </a:bodyPr>
          <a:lstStyle/>
          <a:p>
            <a:r>
              <a:rPr sz="1800" b="0">
                <a:solidFill>
                  <a:srgbClr val="183447"/>
                </a:solidFill>
                <a:latin typeface="Arial"/>
              </a:rPr>
              <a:t>CI BERT−Tree cũng chứa 0; CI BERT−POS nằm trên 0. Dùng 1.000 lượt lấy lại 97 nhóm.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Điểm mạnh và điểm yếu theo lớp</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10</a:t>
            </a:r>
          </a:p>
        </p:txBody>
      </p:sp>
      <p:pic>
        <p:nvPicPr>
          <p:cNvPr id="6" name="Picture 5" descr="per_class_f1.png"/>
          <p:cNvPicPr>
            <a:picLocks noChangeAspect="1"/>
          </p:cNvPicPr>
          <p:nvPr/>
        </p:nvPicPr>
        <p:blipFill>
          <a:blip r:embed="rId2"/>
          <a:stretch>
            <a:fillRect/>
          </a:stretch>
        </p:blipFill>
        <p:spPr>
          <a:xfrm>
            <a:off x="2032482" y="1143000"/>
            <a:ext cx="8126730" cy="3611880"/>
          </a:xfrm>
          <a:prstGeom prst="rect">
            <a:avLst/>
          </a:prstGeom>
        </p:spPr>
      </p:pic>
      <p:sp>
        <p:nvSpPr>
          <p:cNvPr id="7" name="TextBox 6"/>
          <p:cNvSpPr txBox="1"/>
          <p:nvPr/>
        </p:nvSpPr>
        <p:spPr>
          <a:xfrm>
            <a:off x="658368" y="4892040"/>
            <a:ext cx="228600" cy="320040"/>
          </a:xfrm>
          <a:prstGeom prst="rect">
            <a:avLst/>
          </a:prstGeom>
          <a:noFill/>
        </p:spPr>
        <p:txBody>
          <a:bodyPr wrap="square" lIns="0" rIns="0">
            <a:spAutoFit/>
          </a:bodyPr>
          <a:lstStyle/>
          <a:p>
            <a:r>
              <a:rPr sz="1800" b="0">
                <a:solidFill>
                  <a:srgbClr val="C45B39"/>
                </a:solidFill>
                <a:latin typeface="Arial"/>
              </a:rPr>
              <a:t>•</a:t>
            </a:r>
          </a:p>
        </p:txBody>
      </p:sp>
      <p:sp>
        <p:nvSpPr>
          <p:cNvPr id="8" name="TextBox 7"/>
          <p:cNvSpPr txBox="1"/>
          <p:nvPr/>
        </p:nvSpPr>
        <p:spPr>
          <a:xfrm>
            <a:off x="941832" y="4892040"/>
            <a:ext cx="10561320" cy="576072"/>
          </a:xfrm>
          <a:prstGeom prst="rect">
            <a:avLst/>
          </a:prstGeom>
          <a:noFill/>
        </p:spPr>
        <p:txBody>
          <a:bodyPr wrap="square" lIns="0" rIns="0">
            <a:spAutoFit/>
          </a:bodyPr>
          <a:lstStyle/>
          <a:p>
            <a:r>
              <a:rPr sz="1800" b="0">
                <a:solidFill>
                  <a:srgbClr val="183447"/>
                </a:solidFill>
                <a:latin typeface="Arial"/>
              </a:rPr>
              <a:t>BERT cao hơn LR ở bốn lớp. Với Nn, F1 là 0,8098 so với 0,7781.</a:t>
            </a:r>
          </a:p>
        </p:txBody>
      </p:sp>
      <p:sp>
        <p:nvSpPr>
          <p:cNvPr id="9" name="TextBox 8"/>
          <p:cNvSpPr txBox="1"/>
          <p:nvPr/>
        </p:nvSpPr>
        <p:spPr>
          <a:xfrm>
            <a:off x="658368" y="5577840"/>
            <a:ext cx="228600" cy="320040"/>
          </a:xfrm>
          <a:prstGeom prst="rect">
            <a:avLst/>
          </a:prstGeom>
          <a:noFill/>
        </p:spPr>
        <p:txBody>
          <a:bodyPr wrap="square" lIns="0" rIns="0">
            <a:spAutoFit/>
          </a:bodyPr>
          <a:lstStyle/>
          <a:p>
            <a:r>
              <a:rPr sz="1800" b="0">
                <a:solidFill>
                  <a:srgbClr val="C45B39"/>
                </a:solidFill>
                <a:latin typeface="Arial"/>
              </a:rPr>
              <a:t>•</a:t>
            </a:r>
          </a:p>
        </p:txBody>
      </p:sp>
      <p:sp>
        <p:nvSpPr>
          <p:cNvPr id="10" name="TextBox 9"/>
          <p:cNvSpPr txBox="1"/>
          <p:nvPr/>
        </p:nvSpPr>
        <p:spPr>
          <a:xfrm>
            <a:off x="941832" y="5577840"/>
            <a:ext cx="10561320" cy="576072"/>
          </a:xfrm>
          <a:prstGeom prst="rect">
            <a:avLst/>
          </a:prstGeom>
          <a:noFill/>
        </p:spPr>
        <p:txBody>
          <a:bodyPr wrap="square" lIns="0" rIns="0">
            <a:spAutoFit/>
          </a:bodyPr>
          <a:lstStyle/>
          <a:p>
            <a:r>
              <a:rPr sz="1800" b="0">
                <a:solidFill>
                  <a:srgbClr val="183447"/>
                </a:solidFill>
                <a:latin typeface="Arial"/>
              </a:rPr>
              <a:t>SVA là điểm yếu của BERT: 0,7392 so với LR 0,8106.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Audit lỗi và giới hạn suy luận</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11</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576072"/>
          </a:xfrm>
          <a:prstGeom prst="rect">
            <a:avLst/>
          </a:prstGeom>
          <a:noFill/>
        </p:spPr>
        <p:txBody>
          <a:bodyPr wrap="square" lIns="0" rIns="0">
            <a:spAutoFit/>
          </a:bodyPr>
          <a:lstStyle/>
          <a:p>
            <a:r>
              <a:rPr sz="2100" b="0">
                <a:solidFill>
                  <a:srgbClr val="183447"/>
                </a:solidFill>
                <a:latin typeface="Arial"/>
              </a:rPr>
              <a:t>Cùng đúng 1.860 ca; BERT đúng riêng 138, LR đúng riêng 119; cùng sai 251.</a:t>
            </a:r>
          </a:p>
        </p:txBody>
      </p:sp>
      <p:sp>
        <p:nvSpPr>
          <p:cNvPr id="8" name="TextBox 7"/>
          <p:cNvSpPr txBox="1"/>
          <p:nvPr/>
        </p:nvSpPr>
        <p:spPr>
          <a:xfrm>
            <a:off x="658368" y="21031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103120"/>
            <a:ext cx="10561320" cy="576072"/>
          </a:xfrm>
          <a:prstGeom prst="rect">
            <a:avLst/>
          </a:prstGeom>
          <a:noFill/>
        </p:spPr>
        <p:txBody>
          <a:bodyPr wrap="square" lIns="0" rIns="0">
            <a:spAutoFit/>
          </a:bodyPr>
          <a:lstStyle/>
          <a:p>
            <a:r>
              <a:rPr sz="2100" b="0">
                <a:solidFill>
                  <a:srgbClr val="183447"/>
                </a:solidFill>
                <a:latin typeface="Arial"/>
              </a:rPr>
              <a:t>Đọc kỹ 40 ca: 12 theo mỗi chiều sai khác, 10 cùng sai và 6 ca cùng đúng.</a:t>
            </a:r>
          </a:p>
        </p:txBody>
      </p:sp>
      <p:sp>
        <p:nvSpPr>
          <p:cNvPr id="10" name="TextBox 9"/>
          <p:cNvSpPr txBox="1"/>
          <p:nvPr/>
        </p:nvSpPr>
        <p:spPr>
          <a:xfrm>
            <a:off x="658368" y="27889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788920"/>
            <a:ext cx="10561320" cy="576072"/>
          </a:xfrm>
          <a:prstGeom prst="rect">
            <a:avLst/>
          </a:prstGeom>
          <a:noFill/>
        </p:spPr>
        <p:txBody>
          <a:bodyPr wrap="square" lIns="0" rIns="0">
            <a:spAutoFit/>
          </a:bodyPr>
          <a:lstStyle/>
          <a:p>
            <a:r>
              <a:rPr sz="2100" b="0">
                <a:solidFill>
                  <a:srgbClr val="183447"/>
                </a:solidFill>
                <a:latin typeface="Arial"/>
              </a:rPr>
              <a:t>Lỗi thiếu từ vẫn có thể neo vào đoạn không rỗng; một số span chỉ là mảnh từ.</a:t>
            </a:r>
          </a:p>
        </p:txBody>
      </p:sp>
      <p:sp>
        <p:nvSpPr>
          <p:cNvPr id="12" name="TextBox 11"/>
          <p:cNvSpPr txBox="1"/>
          <p:nvPr/>
        </p:nvSpPr>
        <p:spPr>
          <a:xfrm>
            <a:off x="658368" y="34747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474720"/>
            <a:ext cx="10561320" cy="576072"/>
          </a:xfrm>
          <a:prstGeom prst="rect">
            <a:avLst/>
          </a:prstGeom>
          <a:noFill/>
        </p:spPr>
        <p:txBody>
          <a:bodyPr wrap="square" lIns="0" rIns="0">
            <a:spAutoFit/>
          </a:bodyPr>
          <a:lstStyle/>
          <a:p>
            <a:r>
              <a:rPr sz="2100" b="0">
                <a:solidFill>
                  <a:srgbClr val="183447"/>
                </a:solidFill>
                <a:latin typeface="Arial"/>
              </a:rPr>
              <a:t>Nhãn và bản sửa ở một số ca cần chuyên gia xem lại; gold vẫn giữ nguyên.</a:t>
            </a:r>
          </a:p>
        </p:txBody>
      </p:sp>
      <p:sp>
        <p:nvSpPr>
          <p:cNvPr id="14" name="TextBox 13"/>
          <p:cNvSpPr txBox="1"/>
          <p:nvPr/>
        </p:nvSpPr>
        <p:spPr>
          <a:xfrm>
            <a:off x="658368" y="41605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5" name="TextBox 14"/>
          <p:cNvSpPr txBox="1"/>
          <p:nvPr/>
        </p:nvSpPr>
        <p:spPr>
          <a:xfrm>
            <a:off x="941832" y="4160520"/>
            <a:ext cx="10561320" cy="749808"/>
          </a:xfrm>
          <a:prstGeom prst="rect">
            <a:avLst/>
          </a:prstGeom>
          <a:noFill/>
        </p:spPr>
        <p:txBody>
          <a:bodyPr wrap="square" lIns="0" rIns="0">
            <a:spAutoFit/>
          </a:bodyPr>
          <a:lstStyle/>
          <a:p>
            <a:r>
              <a:rPr sz="2100" b="0">
                <a:solidFill>
                  <a:srgbClr val="183447"/>
                </a:solidFill>
                <a:latin typeface="Arial"/>
              </a:rPr>
              <a:t>Ghi chú AI hỗ trợ đọc lỗi, chưa thay đánh giá độc lập hoặc cho biết tỷ lệ toàn corpus.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31520"/>
          </a:xfrm>
          <a:prstGeom prst="rect">
            <a:avLst/>
          </a:prstGeom>
          <a:noFill/>
        </p:spPr>
        <p:txBody>
          <a:bodyPr wrap="square" lIns="0" rIns="0">
            <a:spAutoFit/>
          </a:bodyPr>
          <a:lstStyle/>
          <a:p>
            <a:r>
              <a:rPr sz="3000" b="1">
                <a:solidFill>
                  <a:srgbClr val="153447"/>
                </a:solidFill>
                <a:latin typeface="Arial"/>
              </a:rPr>
              <a:t>Kết luận và bàn giao</a:t>
            </a:r>
          </a:p>
        </p:txBody>
      </p:sp>
      <p:sp>
        <p:nvSpPr>
          <p:cNvPr id="4" name="TextBox 3"/>
          <p:cNvSpPr txBox="1"/>
          <p:nvPr/>
        </p:nvSpPr>
        <p:spPr>
          <a:xfrm>
            <a:off x="502920" y="6473952"/>
            <a:ext cx="10789920" cy="228600"/>
          </a:xfrm>
          <a:prstGeom prst="rect">
            <a:avLst/>
          </a:prstGeom>
          <a:noFill/>
        </p:spPr>
        <p:txBody>
          <a:bodyPr wrap="square" lIns="0" rIns="0">
            <a:spAutoFit/>
          </a:bodyPr>
          <a:lstStyle/>
          <a:p>
            <a:r>
              <a:rPr sz="1000" b="0">
                <a:solidFill>
                  <a:srgbClr val="536778"/>
                </a:solidFill>
                <a:latin typeface="Arial"/>
              </a:rPr>
              <a:t>NUCLE • Known-span classification • 28/10/2026</a:t>
            </a:r>
          </a:p>
        </p:txBody>
      </p:sp>
      <p:sp>
        <p:nvSpPr>
          <p:cNvPr id="5" name="TextBox 4"/>
          <p:cNvSpPr txBox="1"/>
          <p:nvPr/>
        </p:nvSpPr>
        <p:spPr>
          <a:xfrm>
            <a:off x="11155680" y="6428232"/>
            <a:ext cx="548640" cy="274320"/>
          </a:xfrm>
          <a:prstGeom prst="rect">
            <a:avLst/>
          </a:prstGeom>
          <a:noFill/>
        </p:spPr>
        <p:txBody>
          <a:bodyPr wrap="square" lIns="0" rIns="0">
            <a:spAutoFit/>
          </a:bodyPr>
          <a:lstStyle/>
          <a:p>
            <a:r>
              <a:rPr sz="1200" b="0">
                <a:solidFill>
                  <a:srgbClr val="536778"/>
                </a:solidFill>
                <a:latin typeface="Arial"/>
              </a:rPr>
              <a:t>12</a:t>
            </a:r>
          </a:p>
        </p:txBody>
      </p:sp>
      <p:sp>
        <p:nvSpPr>
          <p:cNvPr id="6" name="TextBox 5"/>
          <p:cNvSpPr txBox="1"/>
          <p:nvPr/>
        </p:nvSpPr>
        <p:spPr>
          <a:xfrm>
            <a:off x="658368" y="14173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7" name="TextBox 6"/>
          <p:cNvSpPr txBox="1"/>
          <p:nvPr/>
        </p:nvSpPr>
        <p:spPr>
          <a:xfrm>
            <a:off x="941832" y="1417320"/>
            <a:ext cx="10561320" cy="576072"/>
          </a:xfrm>
          <a:prstGeom prst="rect">
            <a:avLst/>
          </a:prstGeom>
          <a:noFill/>
        </p:spPr>
        <p:txBody>
          <a:bodyPr wrap="square" lIns="0" rIns="0">
            <a:spAutoFit/>
          </a:bodyPr>
          <a:lstStyle/>
          <a:p>
            <a:r>
              <a:rPr sz="2100" b="0">
                <a:solidFill>
                  <a:srgbClr val="183447"/>
                </a:solidFill>
                <a:latin typeface="Arial"/>
              </a:rPr>
              <a:t>LR với đặc trưng ngôn ngữ là đối chứng mạnh; BERT span mean đạt điểm gần LR.</a:t>
            </a:r>
          </a:p>
        </p:txBody>
      </p:sp>
      <p:sp>
        <p:nvSpPr>
          <p:cNvPr id="8" name="TextBox 7"/>
          <p:cNvSpPr txBox="1"/>
          <p:nvPr/>
        </p:nvSpPr>
        <p:spPr>
          <a:xfrm>
            <a:off x="658368" y="21031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9" name="TextBox 8"/>
          <p:cNvSpPr txBox="1"/>
          <p:nvPr/>
        </p:nvSpPr>
        <p:spPr>
          <a:xfrm>
            <a:off x="941832" y="2103120"/>
            <a:ext cx="10561320" cy="576072"/>
          </a:xfrm>
          <a:prstGeom prst="rect">
            <a:avLst/>
          </a:prstGeom>
          <a:noFill/>
        </p:spPr>
        <p:txBody>
          <a:bodyPr wrap="square" lIns="0" rIns="0">
            <a:spAutoFit/>
          </a:bodyPr>
          <a:lstStyle/>
          <a:p>
            <a:r>
              <a:rPr sz="2100" b="0">
                <a:solidFill>
                  <a:srgbClr val="183447"/>
                </a:solidFill>
                <a:latin typeface="Arial"/>
              </a:rPr>
              <a:t>CI chưa cho thấy BERT vượt LR; cả kết quả đầu tiên và đợt mở rộng đều được giữ lại.</a:t>
            </a:r>
          </a:p>
        </p:txBody>
      </p:sp>
      <p:sp>
        <p:nvSpPr>
          <p:cNvPr id="10" name="TextBox 9"/>
          <p:cNvSpPr txBox="1"/>
          <p:nvPr/>
        </p:nvSpPr>
        <p:spPr>
          <a:xfrm>
            <a:off x="658368" y="27889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1" name="TextBox 10"/>
          <p:cNvSpPr txBox="1"/>
          <p:nvPr/>
        </p:nvSpPr>
        <p:spPr>
          <a:xfrm>
            <a:off x="941832" y="2788920"/>
            <a:ext cx="10561320" cy="576072"/>
          </a:xfrm>
          <a:prstGeom prst="rect">
            <a:avLst/>
          </a:prstGeom>
          <a:noFill/>
        </p:spPr>
        <p:txBody>
          <a:bodyPr wrap="square" lIns="0" rIns="0">
            <a:spAutoFit/>
          </a:bodyPr>
          <a:lstStyle/>
          <a:p>
            <a:r>
              <a:rPr sz="2100" b="0">
                <a:solidFill>
                  <a:srgbClr val="183447"/>
                </a:solidFill>
                <a:latin typeface="Arial"/>
              </a:rPr>
              <a:t>Cần dữ liệu đánh giá mới để kiểm tra khả năng khái quát hóa độc lập.</a:t>
            </a:r>
          </a:p>
        </p:txBody>
      </p:sp>
      <p:sp>
        <p:nvSpPr>
          <p:cNvPr id="12" name="TextBox 11"/>
          <p:cNvSpPr txBox="1"/>
          <p:nvPr/>
        </p:nvSpPr>
        <p:spPr>
          <a:xfrm>
            <a:off x="658368" y="34747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3" name="TextBox 12"/>
          <p:cNvSpPr txBox="1"/>
          <p:nvPr/>
        </p:nvSpPr>
        <p:spPr>
          <a:xfrm>
            <a:off x="941832" y="3474720"/>
            <a:ext cx="10561320" cy="576072"/>
          </a:xfrm>
          <a:prstGeom prst="rect">
            <a:avLst/>
          </a:prstGeom>
          <a:noFill/>
        </p:spPr>
        <p:txBody>
          <a:bodyPr wrap="square" lIns="0" rIns="0">
            <a:spAutoFit/>
          </a:bodyPr>
          <a:lstStyle/>
          <a:p>
            <a:r>
              <a:rPr sz="2100" b="0">
                <a:solidFill>
                  <a:srgbClr val="183447"/>
                </a:solidFill>
                <a:latin typeface="Arial"/>
              </a:rPr>
              <a:t>Báo cáo có mã, bảng, hình, kiểm chứng và CSV đọc lỗi để đối chiếu.</a:t>
            </a:r>
          </a:p>
        </p:txBody>
      </p:sp>
      <p:sp>
        <p:nvSpPr>
          <p:cNvPr id="14" name="TextBox 13"/>
          <p:cNvSpPr txBox="1"/>
          <p:nvPr/>
        </p:nvSpPr>
        <p:spPr>
          <a:xfrm>
            <a:off x="658368" y="4160520"/>
            <a:ext cx="228600" cy="320040"/>
          </a:xfrm>
          <a:prstGeom prst="rect">
            <a:avLst/>
          </a:prstGeom>
          <a:noFill/>
        </p:spPr>
        <p:txBody>
          <a:bodyPr wrap="square" lIns="0" rIns="0">
            <a:spAutoFit/>
          </a:bodyPr>
          <a:lstStyle/>
          <a:p>
            <a:r>
              <a:rPr sz="2100" b="0">
                <a:solidFill>
                  <a:srgbClr val="C45B39"/>
                </a:solidFill>
                <a:latin typeface="Arial"/>
              </a:rPr>
              <a:t>•</a:t>
            </a:r>
          </a:p>
        </p:txBody>
      </p:sp>
      <p:sp>
        <p:nvSpPr>
          <p:cNvPr id="15" name="TextBox 14"/>
          <p:cNvSpPr txBox="1"/>
          <p:nvPr/>
        </p:nvSpPr>
        <p:spPr>
          <a:xfrm>
            <a:off x="941832" y="4160520"/>
            <a:ext cx="10561320" cy="576072"/>
          </a:xfrm>
          <a:prstGeom prst="rect">
            <a:avLst/>
          </a:prstGeom>
          <a:noFill/>
        </p:spPr>
        <p:txBody>
          <a:bodyPr wrap="square" lIns="0" rIns="0">
            <a:spAutoFit/>
          </a:bodyPr>
          <a:lstStyle/>
          <a:p>
            <a:r>
              <a:rPr sz="2100" b="0">
                <a:solidFill>
                  <a:srgbClr val="183447"/>
                </a:solidFill>
                <a:latin typeface="Arial"/>
              </a:rPr>
              <a:t>Trước khi nộp: hoàn thiện tên nhóm, đóng góp thực tế và khai báo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loại lỗi ngữ pháp NUCLE</dc:title>
  <dc:subject/>
  <dc:creator>Nhóm nghiên cứu — chờ xác nhận tên/MSSV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